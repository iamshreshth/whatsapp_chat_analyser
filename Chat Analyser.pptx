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8288000" cy="10287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00"/>
    <p:restoredTop sz="94658"/>
  </p:normalViewPr>
  <p:slideViewPr>
    <p:cSldViewPr>
      <p:cViewPr varScale="1">
        <p:scale>
          <a:sx n="79" d="100"/>
          <a:sy n="79" d="100"/>
        </p:scale>
        <p:origin x="248" y="2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5335525" y="946405"/>
            <a:ext cx="7853363" cy="7843838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7785" y="1647582"/>
            <a:ext cx="15477627" cy="6592482"/>
          </a:xfrm>
        </p:spPr>
        <p:txBody>
          <a:bodyPr anchor="ctr">
            <a:noAutofit/>
          </a:bodyPr>
          <a:lstStyle>
            <a:lvl1pPr algn="ctr">
              <a:defRPr sz="15000" spc="1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22568" y="8968795"/>
            <a:ext cx="12068060" cy="111341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3000" b="1" i="0" cap="all" spc="600" baseline="0">
                <a:solidFill>
                  <a:schemeClr val="tx2"/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17785" y="9563519"/>
            <a:ext cx="3494583" cy="522693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70498" y="9563519"/>
            <a:ext cx="6172200" cy="518694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600828" y="9563519"/>
            <a:ext cx="3494585" cy="518694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425196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2602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00545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394" y="1610833"/>
            <a:ext cx="12280607" cy="6096941"/>
          </a:xfrm>
        </p:spPr>
        <p:txBody>
          <a:bodyPr anchor="b">
            <a:normAutofit/>
          </a:bodyPr>
          <a:lstStyle>
            <a:lvl1pPr>
              <a:defRPr sz="12600" spc="12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4395" y="7739672"/>
            <a:ext cx="10526232" cy="142670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3000" b="1" i="0" cap="all" spc="600" baseline="0">
                <a:solidFill>
                  <a:schemeClr val="accent1"/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54820" y="9563519"/>
            <a:ext cx="2240921" cy="5226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18596" y="9563519"/>
            <a:ext cx="6172200" cy="51869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913651" y="9563519"/>
            <a:ext cx="2231349" cy="51869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4221957" cy="10287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419568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3429000"/>
            <a:ext cx="7200900" cy="54292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71694" y="3429000"/>
            <a:ext cx="7200900" cy="54292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920234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092" y="571500"/>
            <a:ext cx="15259050" cy="224027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7517" y="3299450"/>
            <a:ext cx="7200900" cy="94879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850" b="1" cap="all" spc="300" baseline="0">
                <a:solidFill>
                  <a:schemeClr val="tx2"/>
                </a:solidFill>
              </a:defRPr>
            </a:lvl1pPr>
            <a:lvl2pPr marL="685800" indent="0">
              <a:buNone/>
              <a:defRPr sz="285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5950" y="4363653"/>
            <a:ext cx="7200900" cy="449459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950796" y="3299450"/>
            <a:ext cx="7200900" cy="94879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850" b="1" cap="all" spc="300" baseline="0">
                <a:solidFill>
                  <a:schemeClr val="tx2"/>
                </a:solidFill>
              </a:defRPr>
            </a:lvl1pPr>
            <a:lvl2pPr marL="685800" indent="0">
              <a:buNone/>
              <a:defRPr sz="285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950796" y="4363653"/>
            <a:ext cx="7200900" cy="449459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641499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4107373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918798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11084718" y="0"/>
            <a:ext cx="7203282" cy="10287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06827" y="685799"/>
            <a:ext cx="4638173" cy="179500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2850" b="1" i="0" cap="all" spc="4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576" y="1380565"/>
            <a:ext cx="9237627" cy="7477686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06828" y="2612004"/>
            <a:ext cx="4638173" cy="6246246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800"/>
              </a:spcBef>
              <a:buNone/>
              <a:defRPr sz="2400" baseline="0">
                <a:solidFill>
                  <a:schemeClr val="bg2"/>
                </a:solidFill>
              </a:defRPr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47577" y="9563519"/>
            <a:ext cx="1850033" cy="52269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55431" y="9563519"/>
            <a:ext cx="5223269" cy="518694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6521" y="9563519"/>
            <a:ext cx="1848684" cy="518694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425196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75507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5197" y="1"/>
            <a:ext cx="11033378" cy="10286999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11084718" y="0"/>
            <a:ext cx="7203282" cy="10287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425196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06825" y="685800"/>
            <a:ext cx="4638176" cy="1795005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2850" b="1" i="0" spc="4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06825" y="2612004"/>
            <a:ext cx="4638176" cy="6246246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800"/>
              </a:spcBef>
              <a:buNone/>
              <a:defRPr sz="2400" baseline="0">
                <a:solidFill>
                  <a:schemeClr val="bg2"/>
                </a:solidFill>
              </a:defRPr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48925" y="9563519"/>
            <a:ext cx="1848684" cy="52269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55432" y="9563519"/>
            <a:ext cx="5223267" cy="518694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1352" y="9563519"/>
            <a:ext cx="1851660" cy="518694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272410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371115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099482" y="573579"/>
            <a:ext cx="2238198" cy="840060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1" y="573578"/>
            <a:ext cx="12588878" cy="840060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487414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366416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77517" y="573578"/>
            <a:ext cx="15267483" cy="2238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7517" y="3429002"/>
            <a:ext cx="15267483" cy="5390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1328738" cy="10287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7862804" y="0"/>
            <a:ext cx="425196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39151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7650" kern="1200" cap="all" spc="3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110000"/>
        </a:lnSpc>
        <a:spcBef>
          <a:spcPts val="1050"/>
        </a:spcBef>
        <a:buClr>
          <a:schemeClr val="tx2"/>
        </a:buClr>
        <a:buFont typeface="Arial" panose="020B0604020202020204" pitchFamily="34" charset="0"/>
        <a:buChar char="•"/>
        <a:defRPr sz="3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110000"/>
        </a:lnSpc>
        <a:spcBef>
          <a:spcPts val="1050"/>
        </a:spcBef>
        <a:buClr>
          <a:schemeClr val="tx2"/>
        </a:buClr>
        <a:buFont typeface="Gill Sans MT" panose="020B0502020104020203" pitchFamily="34" charset="0"/>
        <a:buChar char="–"/>
        <a:defRPr sz="2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110000"/>
        </a:lnSpc>
        <a:spcBef>
          <a:spcPts val="105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110000"/>
        </a:lnSpc>
        <a:spcBef>
          <a:spcPts val="1050"/>
        </a:spcBef>
        <a:buClr>
          <a:schemeClr val="tx2"/>
        </a:buClr>
        <a:buFont typeface="Gill Sans MT" panose="020B0502020104020203" pitchFamily="34" charset="0"/>
        <a:buChar char="–"/>
        <a:defRPr sz="2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110000"/>
        </a:lnSpc>
        <a:spcBef>
          <a:spcPts val="1050"/>
        </a:spcBef>
        <a:buClr>
          <a:schemeClr val="tx2"/>
        </a:buClr>
        <a:buFont typeface="Arial" panose="020B0604020202020204" pitchFamily="34" charset="0"/>
        <a:buChar char="•"/>
        <a:defRPr sz="2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110000"/>
        </a:lnSpc>
        <a:spcBef>
          <a:spcPts val="1050"/>
        </a:spcBef>
        <a:buClr>
          <a:schemeClr val="tx2"/>
        </a:buClr>
        <a:buFont typeface="Gill Sans MT" panose="020B0502020104020203" pitchFamily="34" charset="0"/>
        <a:buChar char="–"/>
        <a:defRPr sz="2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110000"/>
        </a:lnSpc>
        <a:spcBef>
          <a:spcPts val="1050"/>
        </a:spcBef>
        <a:buClr>
          <a:schemeClr val="tx2"/>
        </a:buClr>
        <a:buFont typeface="Arial" panose="020B0604020202020204" pitchFamily="34" charset="0"/>
        <a:buChar char="•"/>
        <a:defRPr sz="2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110000"/>
        </a:lnSpc>
        <a:spcBef>
          <a:spcPts val="1050"/>
        </a:spcBef>
        <a:buClr>
          <a:schemeClr val="tx2"/>
        </a:buClr>
        <a:buFont typeface="Gill Sans MT" panose="020B0502020104020203" pitchFamily="34" charset="0"/>
        <a:buChar char="–"/>
        <a:defRPr sz="21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110000"/>
        </a:lnSpc>
        <a:spcBef>
          <a:spcPts val="1050"/>
        </a:spcBef>
        <a:buClr>
          <a:schemeClr val="tx2"/>
        </a:buClr>
        <a:buFont typeface="Arial" panose="020B0604020202020204" pitchFamily="34" charset="0"/>
        <a:buChar char="•"/>
        <a:defRPr sz="21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42900"/>
            <a:ext cx="18287999" cy="668992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0499" y="495300"/>
            <a:ext cx="17906999" cy="2779421"/>
          </a:xfrm>
          <a:prstGeom prst="rect">
            <a:avLst/>
          </a:prstGeom>
        </p:spPr>
        <p:txBody>
          <a:bodyPr vert="horz" wrap="square" lIns="0" tIns="984701" rIns="0" bIns="0" rtlCol="0">
            <a:spAutoFit/>
          </a:bodyPr>
          <a:lstStyle/>
          <a:p>
            <a:pPr marL="1045844" algn="ctr">
              <a:lnSpc>
                <a:spcPct val="100000"/>
              </a:lnSpc>
              <a:spcBef>
                <a:spcPts val="100"/>
              </a:spcBef>
            </a:pPr>
            <a:r>
              <a:rPr sz="11600" spc="-135" dirty="0"/>
              <a:t>WhatsApp</a:t>
            </a:r>
            <a:r>
              <a:rPr sz="11600" spc="-295" dirty="0"/>
              <a:t> </a:t>
            </a:r>
            <a:r>
              <a:rPr sz="11600" spc="-10" dirty="0"/>
              <a:t>ChatAnalyzer</a:t>
            </a:r>
            <a:endParaRPr sz="11600" dirty="0"/>
          </a:p>
        </p:txBody>
      </p:sp>
      <p:sp>
        <p:nvSpPr>
          <p:cNvPr id="4" name="object 4"/>
          <p:cNvSpPr txBox="1"/>
          <p:nvPr/>
        </p:nvSpPr>
        <p:spPr>
          <a:xfrm>
            <a:off x="190499" y="5143500"/>
            <a:ext cx="1775459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400" spc="165" dirty="0">
                <a:latin typeface="Verdana"/>
                <a:cs typeface="Verdana"/>
              </a:rPr>
              <a:t>DEVELOPED</a:t>
            </a:r>
            <a:r>
              <a:rPr lang="en-IN" sz="2400" spc="225" dirty="0">
                <a:latin typeface="Verdana"/>
                <a:cs typeface="Verdana"/>
              </a:rPr>
              <a:t> </a:t>
            </a:r>
            <a:r>
              <a:rPr lang="en-IN" sz="2400" dirty="0">
                <a:latin typeface="Verdana"/>
                <a:cs typeface="Verdana"/>
              </a:rPr>
              <a:t>IN</a:t>
            </a:r>
            <a:r>
              <a:rPr lang="en-IN" sz="2400" spc="229" dirty="0">
                <a:latin typeface="Verdana"/>
                <a:cs typeface="Verdana"/>
              </a:rPr>
              <a:t> </a:t>
            </a:r>
            <a:r>
              <a:rPr lang="en-IN" sz="2400" spc="114" dirty="0">
                <a:latin typeface="Verdana"/>
                <a:cs typeface="Verdana"/>
              </a:rPr>
              <a:t>C</a:t>
            </a:r>
            <a:r>
              <a:rPr lang="en-IN" sz="2400" spc="229" dirty="0">
                <a:latin typeface="Verdana"/>
                <a:cs typeface="Verdana"/>
              </a:rPr>
              <a:t> </a:t>
            </a:r>
            <a:r>
              <a:rPr lang="en-IN" sz="2400" spc="165" dirty="0">
                <a:latin typeface="Verdana"/>
                <a:cs typeface="Verdana"/>
              </a:rPr>
              <a:t>LANGUAGE</a:t>
            </a:r>
            <a:endParaRPr lang="en-IN" sz="2400" dirty="0">
              <a:latin typeface="Verdana"/>
              <a:cs typeface="Verdan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B2B5B3-1937-44E7-4BC3-9DC94DBD6859}"/>
              </a:ext>
            </a:extLst>
          </p:cNvPr>
          <p:cNvSpPr txBox="1"/>
          <p:nvPr/>
        </p:nvSpPr>
        <p:spPr>
          <a:xfrm>
            <a:off x="152400" y="7426083"/>
            <a:ext cx="179450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3200" dirty="0">
                <a:latin typeface="Verdana"/>
                <a:cs typeface="Verdana"/>
              </a:rPr>
              <a:t>SHRESHTH DHIMOLE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0952" y="1289101"/>
            <a:ext cx="4473806" cy="1190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4105" y="2643592"/>
            <a:ext cx="130653" cy="1306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998617" y="2291193"/>
            <a:ext cx="9638030" cy="43140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500"/>
              </a:lnSpc>
              <a:spcBef>
                <a:spcPts val="100"/>
              </a:spcBef>
            </a:pPr>
            <a:r>
              <a:rPr sz="3000" b="1" spc="-16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To</a:t>
            </a:r>
            <a:r>
              <a:rPr sz="3000" b="1" spc="-6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analyze</a:t>
            </a:r>
            <a:r>
              <a:rPr sz="3000" b="1" spc="-12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WhatsApp</a:t>
            </a:r>
            <a:r>
              <a:rPr sz="3000" b="1" spc="-85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chat</a:t>
            </a:r>
            <a:r>
              <a:rPr sz="3000" b="1" spc="-9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spc="-1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data</a:t>
            </a:r>
            <a:r>
              <a:rPr sz="3000" b="1" spc="-85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spc="-1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using</a:t>
            </a:r>
            <a:r>
              <a:rPr sz="3000" b="1" spc="-9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a</a:t>
            </a:r>
            <a:r>
              <a:rPr sz="3000" b="1" spc="-85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spc="28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C</a:t>
            </a:r>
            <a:r>
              <a:rPr sz="3000" b="1" spc="-9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spc="-4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program. </a:t>
            </a:r>
            <a:endParaRPr lang="en-US" sz="3000" b="1" spc="-40" dirty="0">
              <a:latin typeface="Adelle Sans Devanagari" panose="02000503000000020004" pitchFamily="2" charset="-78"/>
              <a:cs typeface="Adelle Sans Devanagari" panose="02000503000000020004" pitchFamily="2" charset="-78"/>
            </a:endParaRPr>
          </a:p>
          <a:p>
            <a:pPr marL="12700" marR="5080" algn="just">
              <a:lnSpc>
                <a:spcPct val="132500"/>
              </a:lnSpc>
              <a:spcBef>
                <a:spcPts val="100"/>
              </a:spcBef>
            </a:pPr>
            <a:r>
              <a:rPr sz="30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The</a:t>
            </a:r>
            <a:r>
              <a:rPr sz="3000" b="1" spc="-105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spc="-4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program</a:t>
            </a:r>
            <a:r>
              <a:rPr sz="3000" b="1" spc="-105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reads</a:t>
            </a:r>
            <a:r>
              <a:rPr sz="3000" b="1" spc="-105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spc="-2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an</a:t>
            </a:r>
            <a:r>
              <a:rPr sz="3000" b="1" spc="-105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exported</a:t>
            </a:r>
            <a:r>
              <a:rPr sz="3000" b="1" spc="-105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chat</a:t>
            </a:r>
            <a:r>
              <a:rPr sz="3000" b="1" spc="-105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file</a:t>
            </a:r>
            <a:r>
              <a:rPr sz="3000" b="1" spc="-105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spc="-5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(chat.txt).</a:t>
            </a:r>
            <a:endParaRPr sz="3000" dirty="0">
              <a:latin typeface="Adelle Sans Devanagari" panose="02000503000000020004" pitchFamily="2" charset="-78"/>
              <a:cs typeface="Adelle Sans Devanagari" panose="02000503000000020004" pitchFamily="2" charset="-78"/>
            </a:endParaRPr>
          </a:p>
          <a:p>
            <a:pPr marL="12700" algn="just">
              <a:lnSpc>
                <a:spcPct val="100000"/>
              </a:lnSpc>
              <a:spcBef>
                <a:spcPts val="1170"/>
              </a:spcBef>
            </a:pPr>
            <a:r>
              <a:rPr sz="3000" b="1" spc="-37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I</a:t>
            </a:r>
            <a:r>
              <a:rPr lang="en-US" sz="3000" b="1" spc="-37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spc="-37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t</a:t>
            </a:r>
            <a:r>
              <a:rPr sz="3000" b="1" spc="-8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spc="-1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calculates:</a:t>
            </a:r>
            <a:endParaRPr sz="3000" dirty="0">
              <a:latin typeface="Adelle Sans Devanagari" panose="02000503000000020004" pitchFamily="2" charset="-78"/>
              <a:cs typeface="Adelle Sans Devanagari" panose="02000503000000020004" pitchFamily="2" charset="-78"/>
            </a:endParaRPr>
          </a:p>
          <a:p>
            <a:pPr marL="12700" marR="4920615" algn="just">
              <a:lnSpc>
                <a:spcPct val="132500"/>
              </a:lnSpc>
            </a:pPr>
            <a:r>
              <a:rPr sz="3000" b="1" spc="-85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Total</a:t>
            </a:r>
            <a:r>
              <a:rPr sz="3000" b="1" spc="-8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spc="7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messages</a:t>
            </a:r>
            <a:r>
              <a:rPr sz="3000" b="1" spc="-75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per</a:t>
            </a:r>
            <a:r>
              <a:rPr sz="3000" b="1" spc="-75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spc="-2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user </a:t>
            </a:r>
            <a:r>
              <a:rPr sz="3000" b="1" spc="-1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Average</a:t>
            </a:r>
            <a:r>
              <a:rPr sz="3000" b="1" spc="-114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spc="6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message</a:t>
            </a:r>
            <a:r>
              <a:rPr sz="3000" b="1" spc="-114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spc="-35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length </a:t>
            </a:r>
            <a:r>
              <a:rPr sz="3000" b="1" spc="55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Most</a:t>
            </a:r>
            <a:r>
              <a:rPr sz="3000" b="1" spc="-10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active</a:t>
            </a:r>
            <a:r>
              <a:rPr sz="3000" b="1" spc="-95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spc="-2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hour</a:t>
            </a:r>
            <a:endParaRPr sz="3000" dirty="0">
              <a:latin typeface="Adelle Sans Devanagari" panose="02000503000000020004" pitchFamily="2" charset="-78"/>
              <a:cs typeface="Adelle Sans Devanagari" panose="02000503000000020004" pitchFamily="2" charset="-78"/>
            </a:endParaRPr>
          </a:p>
          <a:p>
            <a:pPr marL="12700" algn="just">
              <a:lnSpc>
                <a:spcPct val="100000"/>
              </a:lnSpc>
              <a:spcBef>
                <a:spcPts val="1170"/>
              </a:spcBef>
            </a:pPr>
            <a:r>
              <a:rPr sz="3000" b="1" spc="-95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Hour-</a:t>
            </a:r>
            <a:r>
              <a:rPr sz="30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wise</a:t>
            </a:r>
            <a:r>
              <a:rPr sz="3000" b="1" spc="-65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spc="6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message</a:t>
            </a:r>
            <a:r>
              <a:rPr sz="3000" b="1" spc="-65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sz="3000" b="1" spc="-1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distribution</a:t>
            </a:r>
            <a:endParaRPr sz="3000" dirty="0">
              <a:latin typeface="Adelle Sans Devanagari" panose="02000503000000020004" pitchFamily="2" charset="-78"/>
              <a:cs typeface="Adelle Sans Devanagari" panose="02000503000000020004" pitchFamily="2" charset="-78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4105" y="3249349"/>
            <a:ext cx="130653" cy="13065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4105" y="3855105"/>
            <a:ext cx="130653" cy="13065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74105" y="4460862"/>
            <a:ext cx="130653" cy="13065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4105" y="5066618"/>
            <a:ext cx="130653" cy="13065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4105" y="5672375"/>
            <a:ext cx="130653" cy="1306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74105" y="6278131"/>
            <a:ext cx="130653" cy="1306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1477" y="1425568"/>
            <a:ext cx="7857490" cy="564515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67030" indent="-366395">
              <a:lnSpc>
                <a:spcPct val="100000"/>
              </a:lnSpc>
              <a:spcBef>
                <a:spcPts val="1165"/>
              </a:spcBef>
              <a:buAutoNum type="arabicPeriod"/>
              <a:tabLst>
                <a:tab pos="367030" algn="l"/>
              </a:tabLst>
            </a:pPr>
            <a:r>
              <a:rPr sz="2800" dirty="0">
                <a:latin typeface="Verdana"/>
                <a:cs typeface="Verdana"/>
              </a:rPr>
              <a:t>Open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90" dirty="0">
                <a:latin typeface="Verdana"/>
                <a:cs typeface="Verdana"/>
              </a:rPr>
              <a:t>and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70" dirty="0">
                <a:latin typeface="Verdana"/>
                <a:cs typeface="Verdana"/>
              </a:rPr>
              <a:t>read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05" dirty="0">
                <a:latin typeface="Verdana"/>
                <a:cs typeface="Verdana"/>
              </a:rPr>
              <a:t>chat.txt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line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by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line.</a:t>
            </a:r>
            <a:endParaRPr sz="2800">
              <a:latin typeface="Verdana"/>
              <a:cs typeface="Verdana"/>
            </a:endParaRPr>
          </a:p>
          <a:p>
            <a:pPr marL="367030" marR="388620" indent="-367030">
              <a:lnSpc>
                <a:spcPct val="131700"/>
              </a:lnSpc>
              <a:buAutoNum type="arabicPeriod"/>
              <a:tabLst>
                <a:tab pos="367030" algn="l"/>
              </a:tabLst>
            </a:pPr>
            <a:r>
              <a:rPr sz="2800" dirty="0">
                <a:latin typeface="Verdana"/>
                <a:cs typeface="Verdana"/>
              </a:rPr>
              <a:t>Check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70" dirty="0">
                <a:latin typeface="Verdana"/>
                <a:cs typeface="Verdana"/>
              </a:rPr>
              <a:t>if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90" dirty="0">
                <a:latin typeface="Verdana"/>
                <a:cs typeface="Verdana"/>
              </a:rPr>
              <a:t>a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line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contains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90" dirty="0">
                <a:latin typeface="Verdana"/>
                <a:cs typeface="Verdana"/>
              </a:rPr>
              <a:t>a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90" dirty="0">
                <a:latin typeface="Verdana"/>
                <a:cs typeface="Verdana"/>
              </a:rPr>
              <a:t>valid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90" dirty="0">
                <a:latin typeface="Verdana"/>
                <a:cs typeface="Verdana"/>
              </a:rPr>
              <a:t>date,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time, </a:t>
            </a:r>
            <a:r>
              <a:rPr sz="2800" spc="-90" dirty="0">
                <a:latin typeface="Verdana"/>
                <a:cs typeface="Verdana"/>
              </a:rPr>
              <a:t>and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message.</a:t>
            </a:r>
            <a:endParaRPr sz="2800">
              <a:latin typeface="Verdana"/>
              <a:cs typeface="Verdana"/>
            </a:endParaRPr>
          </a:p>
          <a:p>
            <a:pPr marL="367030" indent="-36639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367030" algn="l"/>
              </a:tabLst>
            </a:pPr>
            <a:r>
              <a:rPr sz="2800" spc="-75" dirty="0">
                <a:latin typeface="Verdana"/>
                <a:cs typeface="Verdana"/>
              </a:rPr>
              <a:t>Extract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55" dirty="0">
                <a:latin typeface="Verdana"/>
                <a:cs typeface="Verdana"/>
              </a:rPr>
              <a:t>user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145" dirty="0">
                <a:latin typeface="Verdana"/>
                <a:cs typeface="Verdana"/>
              </a:rPr>
              <a:t>name,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message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text,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90" dirty="0">
                <a:latin typeface="Verdana"/>
                <a:cs typeface="Verdana"/>
              </a:rPr>
              <a:t>and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time.</a:t>
            </a:r>
            <a:endParaRPr sz="2800">
              <a:latin typeface="Verdana"/>
              <a:cs typeface="Verdana"/>
            </a:endParaRPr>
          </a:p>
          <a:p>
            <a:pPr marL="367030" marR="157480" indent="-367030">
              <a:lnSpc>
                <a:spcPct val="131700"/>
              </a:lnSpc>
              <a:buAutoNum type="arabicPeriod"/>
              <a:tabLst>
                <a:tab pos="367030" algn="l"/>
              </a:tabLst>
            </a:pPr>
            <a:r>
              <a:rPr sz="2800" spc="-35" dirty="0">
                <a:latin typeface="Verdana"/>
                <a:cs typeface="Verdana"/>
              </a:rPr>
              <a:t>Update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message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count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90" dirty="0">
                <a:latin typeface="Verdana"/>
                <a:cs typeface="Verdana"/>
              </a:rPr>
              <a:t>and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total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message </a:t>
            </a:r>
            <a:r>
              <a:rPr sz="2800" spc="-70" dirty="0">
                <a:latin typeface="Verdana"/>
                <a:cs typeface="Verdana"/>
              </a:rPr>
              <a:t>length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for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120" dirty="0">
                <a:latin typeface="Verdana"/>
                <a:cs typeface="Verdana"/>
              </a:rPr>
              <a:t>that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user.</a:t>
            </a:r>
            <a:endParaRPr sz="2800">
              <a:latin typeface="Verdana"/>
              <a:cs typeface="Verdana"/>
            </a:endParaRPr>
          </a:p>
          <a:p>
            <a:pPr marL="367030" indent="-367030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367030" algn="l"/>
              </a:tabLst>
            </a:pPr>
            <a:r>
              <a:rPr sz="2800" spc="-65" dirty="0">
                <a:latin typeface="Verdana"/>
                <a:cs typeface="Verdana"/>
              </a:rPr>
              <a:t>Convert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time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(AM/PM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1300" spc="1580" dirty="0">
                <a:latin typeface="Lucida Sans Unicode"/>
                <a:cs typeface="Lucida Sans Unicode"/>
              </a:rPr>
              <a:t>→</a:t>
            </a:r>
            <a:r>
              <a:rPr sz="1300" spc="380" dirty="0">
                <a:latin typeface="Lucida Sans Unicode"/>
                <a:cs typeface="Lucida Sans Unicode"/>
              </a:rPr>
              <a:t> </a:t>
            </a:r>
            <a:r>
              <a:rPr sz="2800" spc="-135" dirty="0">
                <a:latin typeface="Verdana"/>
                <a:cs typeface="Verdana"/>
              </a:rPr>
              <a:t>24-</a:t>
            </a:r>
            <a:r>
              <a:rPr sz="2800" spc="-35" dirty="0">
                <a:latin typeface="Verdana"/>
                <a:cs typeface="Verdana"/>
              </a:rPr>
              <a:t>hour).</a:t>
            </a:r>
            <a:endParaRPr sz="2800">
              <a:latin typeface="Verdana"/>
              <a:cs typeface="Verdana"/>
            </a:endParaRPr>
          </a:p>
          <a:p>
            <a:pPr marL="367030" indent="-367030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367030" algn="l"/>
              </a:tabLst>
            </a:pPr>
            <a:r>
              <a:rPr sz="2800" spc="-65" dirty="0">
                <a:latin typeface="Verdana"/>
                <a:cs typeface="Verdana"/>
              </a:rPr>
              <a:t>Store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message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count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per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hour.</a:t>
            </a:r>
            <a:endParaRPr sz="2800">
              <a:latin typeface="Verdana"/>
              <a:cs typeface="Verdana"/>
            </a:endParaRPr>
          </a:p>
          <a:p>
            <a:pPr marL="366395" indent="-36639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366395" algn="l"/>
              </a:tabLst>
            </a:pPr>
            <a:r>
              <a:rPr sz="2800" spc="-70" dirty="0">
                <a:latin typeface="Verdana"/>
                <a:cs typeface="Verdana"/>
              </a:rPr>
              <a:t>Sort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users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by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total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messages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-70" dirty="0">
                <a:latin typeface="Verdana"/>
                <a:cs typeface="Verdana"/>
              </a:rPr>
              <a:t>(descending).</a:t>
            </a:r>
            <a:endParaRPr sz="2800">
              <a:latin typeface="Verdana"/>
              <a:cs typeface="Verdana"/>
            </a:endParaRPr>
          </a:p>
          <a:p>
            <a:pPr marL="366395" indent="-36639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366395" algn="l"/>
              </a:tabLst>
            </a:pPr>
            <a:r>
              <a:rPr sz="2800" spc="-120" dirty="0">
                <a:latin typeface="Verdana"/>
                <a:cs typeface="Verdana"/>
              </a:rPr>
              <a:t>Print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statistics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spc="-90" dirty="0">
                <a:latin typeface="Verdana"/>
                <a:cs typeface="Verdana"/>
              </a:rPr>
              <a:t>and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most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spc="-55" dirty="0">
                <a:latin typeface="Verdana"/>
                <a:cs typeface="Verdana"/>
              </a:rPr>
              <a:t>active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hour.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424808"/>
            <a:ext cx="560387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Algorithm</a:t>
            </a:r>
            <a:r>
              <a:rPr spc="-345" dirty="0"/>
              <a:t> </a:t>
            </a:r>
            <a:r>
              <a:rPr spc="-140" dirty="0"/>
              <a:t>Used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8437" y="484219"/>
            <a:ext cx="16347963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User Data Structure Overview</a:t>
            </a:r>
            <a:r>
              <a:rPr spc="-10" dirty="0"/>
              <a:t>: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2915902" y="9693343"/>
            <a:ext cx="422909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pc="-50" dirty="0"/>
              <a:t>4</a:t>
            </a:r>
            <a:endParaRPr spc="-50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5380B68C-647F-3992-380C-C21666649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817" y="1588414"/>
            <a:ext cx="16459201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 maintain a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User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struct to store key interaction metrics: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-&gt;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Unique identifier for each user.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Messages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-&gt;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count of messages sent.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Length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-&gt;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Combined length of all messages (for analytics).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Average Length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-&gt;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Computed metric showing typical message size.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Longest Message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-&gt;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Stores maximum message length recorded.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Shortest Message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-&gt;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Stores shortest message length for comparison.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6C3CFEC-AB1F-0037-2155-375130F75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437" y="5583079"/>
            <a:ext cx="1442414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Why These Fields Matter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Enables 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engagement analytics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Helps compute 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user behavior patterns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Supports 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ranking, insights, dashboards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Makes the system scalable for future features like sentiment, timestamps,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1104900"/>
            <a:ext cx="13933902" cy="12406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pc="-40" dirty="0"/>
              <a:t>Optimizations </a:t>
            </a:r>
            <a:r>
              <a:rPr spc="-50" dirty="0"/>
              <a:t>Implemented: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idx="1"/>
          </p:nvPr>
        </p:nvSpPr>
        <p:spPr>
          <a:xfrm>
            <a:off x="1752600" y="3086100"/>
            <a:ext cx="9753600" cy="3078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5"/>
              </a:spcBef>
            </a:pPr>
            <a:r>
              <a:rPr dirty="0"/>
              <a:t>Used</a:t>
            </a:r>
            <a:r>
              <a:rPr spc="-195" dirty="0"/>
              <a:t> </a:t>
            </a:r>
            <a:r>
              <a:rPr spc="-130" dirty="0"/>
              <a:t>arrays</a:t>
            </a:r>
            <a:r>
              <a:rPr spc="-190" dirty="0"/>
              <a:t> </a:t>
            </a:r>
            <a:r>
              <a:rPr spc="-105" dirty="0"/>
              <a:t>and</a:t>
            </a:r>
            <a:r>
              <a:rPr spc="-190" dirty="0"/>
              <a:t> </a:t>
            </a:r>
            <a:r>
              <a:rPr spc="-60" dirty="0"/>
              <a:t>structures</a:t>
            </a:r>
            <a:r>
              <a:rPr spc="-190" dirty="0"/>
              <a:t> </a:t>
            </a:r>
            <a:r>
              <a:rPr spc="-65" dirty="0"/>
              <a:t>for</a:t>
            </a:r>
            <a:r>
              <a:rPr spc="-190" dirty="0"/>
              <a:t> </a:t>
            </a:r>
            <a:r>
              <a:rPr spc="-65" dirty="0"/>
              <a:t>faster</a:t>
            </a:r>
            <a:r>
              <a:rPr spc="-190" dirty="0"/>
              <a:t> </a:t>
            </a:r>
            <a:r>
              <a:rPr spc="35" dirty="0"/>
              <a:t>access. </a:t>
            </a:r>
            <a:r>
              <a:rPr spc="-35" dirty="0"/>
              <a:t>Handles</a:t>
            </a:r>
            <a:r>
              <a:rPr spc="-150" dirty="0"/>
              <a:t> </a:t>
            </a:r>
            <a:r>
              <a:rPr spc="-210" dirty="0"/>
              <a:t>multi-</a:t>
            </a:r>
            <a:r>
              <a:rPr spc="-65" dirty="0"/>
              <a:t>line</a:t>
            </a:r>
            <a:r>
              <a:rPr spc="-145" dirty="0"/>
              <a:t> </a:t>
            </a:r>
            <a:r>
              <a:rPr dirty="0"/>
              <a:t>messages</a:t>
            </a:r>
            <a:r>
              <a:rPr spc="-145" dirty="0"/>
              <a:t> </a:t>
            </a:r>
            <a:r>
              <a:rPr spc="-10" dirty="0"/>
              <a:t>correctly.</a:t>
            </a:r>
          </a:p>
          <a:p>
            <a:pPr marL="12700" marR="1000760">
              <a:lnSpc>
                <a:spcPct val="132000"/>
              </a:lnSpc>
              <a:spcBef>
                <a:spcPts val="5"/>
              </a:spcBef>
            </a:pPr>
            <a:r>
              <a:rPr spc="-45" dirty="0"/>
              <a:t>Supports</a:t>
            </a:r>
            <a:r>
              <a:rPr spc="-225" dirty="0"/>
              <a:t> </a:t>
            </a:r>
            <a:r>
              <a:rPr spc="-70" dirty="0"/>
              <a:t>both</a:t>
            </a:r>
            <a:r>
              <a:rPr spc="-220" dirty="0"/>
              <a:t> </a:t>
            </a:r>
            <a:r>
              <a:rPr spc="95" dirty="0"/>
              <a:t>AM/PM</a:t>
            </a:r>
            <a:r>
              <a:rPr spc="-225" dirty="0"/>
              <a:t> </a:t>
            </a:r>
            <a:r>
              <a:rPr spc="-105" dirty="0"/>
              <a:t>and</a:t>
            </a:r>
            <a:r>
              <a:rPr spc="-220" dirty="0"/>
              <a:t> </a:t>
            </a:r>
            <a:r>
              <a:rPr spc="-150" dirty="0"/>
              <a:t>24-</a:t>
            </a:r>
            <a:r>
              <a:rPr spc="-140" dirty="0"/>
              <a:t>hour</a:t>
            </a:r>
            <a:r>
              <a:rPr spc="-220" dirty="0"/>
              <a:t> </a:t>
            </a:r>
            <a:r>
              <a:rPr spc="-105" dirty="0"/>
              <a:t>time. </a:t>
            </a:r>
            <a:r>
              <a:rPr spc="-40" dirty="0"/>
              <a:t>Skips</a:t>
            </a:r>
            <a:r>
              <a:rPr spc="-235" dirty="0"/>
              <a:t> </a:t>
            </a:r>
            <a:r>
              <a:rPr spc="-135" dirty="0"/>
              <a:t>invalid</a:t>
            </a:r>
            <a:r>
              <a:rPr spc="-235" dirty="0"/>
              <a:t> </a:t>
            </a:r>
            <a:r>
              <a:rPr spc="-65" dirty="0"/>
              <a:t>or</a:t>
            </a:r>
            <a:r>
              <a:rPr spc="-229" dirty="0"/>
              <a:t> </a:t>
            </a:r>
            <a:r>
              <a:rPr spc="-50" dirty="0"/>
              <a:t>system</a:t>
            </a:r>
            <a:r>
              <a:rPr spc="-235" dirty="0"/>
              <a:t> </a:t>
            </a:r>
            <a:r>
              <a:rPr spc="-10" dirty="0"/>
              <a:t>messages.</a:t>
            </a: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pc="-70" dirty="0"/>
              <a:t>Optimized</a:t>
            </a:r>
            <a:r>
              <a:rPr spc="-220" dirty="0"/>
              <a:t> </a:t>
            </a:r>
            <a:r>
              <a:rPr spc="-75" dirty="0"/>
              <a:t>sorting</a:t>
            </a:r>
            <a:r>
              <a:rPr spc="-215" dirty="0"/>
              <a:t> </a:t>
            </a:r>
            <a:r>
              <a:rPr spc="-65" dirty="0"/>
              <a:t>for</a:t>
            </a:r>
            <a:r>
              <a:rPr spc="-215" dirty="0"/>
              <a:t> </a:t>
            </a:r>
            <a:r>
              <a:rPr spc="-60" dirty="0"/>
              <a:t>small</a:t>
            </a:r>
            <a:r>
              <a:rPr spc="-215" dirty="0"/>
              <a:t> </a:t>
            </a:r>
            <a:r>
              <a:rPr spc="-10" dirty="0"/>
              <a:t>datasets.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876300"/>
            <a:ext cx="9982200" cy="118878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Sample</a:t>
            </a:r>
            <a:r>
              <a:rPr spc="-254" dirty="0"/>
              <a:t> </a:t>
            </a:r>
            <a:r>
              <a:rPr spc="-35" dirty="0"/>
              <a:t>Output</a:t>
            </a:r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048000" y="3354507"/>
            <a:ext cx="10255250" cy="85408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400" spc="155" dirty="0">
                <a:latin typeface="Verdana"/>
                <a:cs typeface="Verdana"/>
              </a:rPr>
              <a:t>CHAT</a:t>
            </a:r>
            <a:r>
              <a:rPr sz="2400" spc="325" dirty="0">
                <a:latin typeface="Verdana"/>
                <a:cs typeface="Verdana"/>
              </a:rPr>
              <a:t> </a:t>
            </a:r>
            <a:r>
              <a:rPr sz="2400" spc="35" dirty="0">
                <a:latin typeface="Verdana"/>
                <a:cs typeface="Verdana"/>
              </a:rPr>
              <a:t>STATISTICS: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400" spc="-490" dirty="0">
                <a:latin typeface="Verdana"/>
                <a:cs typeface="Verdana"/>
              </a:rPr>
              <a:t>+</a:t>
            </a:r>
            <a:r>
              <a:rPr sz="2400" spc="-6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91</a:t>
            </a:r>
            <a:r>
              <a:rPr sz="2400" spc="235" dirty="0">
                <a:latin typeface="Verdana"/>
                <a:cs typeface="Verdana"/>
              </a:rPr>
              <a:t> </a:t>
            </a:r>
            <a:r>
              <a:rPr sz="2400" spc="155" dirty="0">
                <a:latin typeface="Verdana"/>
                <a:cs typeface="Verdana"/>
              </a:rPr>
              <a:t>63782</a:t>
            </a:r>
            <a:r>
              <a:rPr sz="2400" spc="275" dirty="0">
                <a:latin typeface="Verdana"/>
                <a:cs typeface="Verdana"/>
              </a:rPr>
              <a:t> </a:t>
            </a:r>
            <a:r>
              <a:rPr sz="2400" spc="190" dirty="0">
                <a:latin typeface="Verdana"/>
                <a:cs typeface="Verdana"/>
              </a:rPr>
              <a:t>2</a:t>
            </a:r>
            <a:r>
              <a:rPr lang="en-US" sz="2400" spc="190" dirty="0">
                <a:latin typeface="Verdana"/>
                <a:cs typeface="Verdana"/>
              </a:rPr>
              <a:t>XXX</a:t>
            </a:r>
            <a:r>
              <a:rPr sz="2400" spc="190" dirty="0">
                <a:latin typeface="Verdana"/>
                <a:cs typeface="Verdana"/>
              </a:rPr>
              <a:t>8</a:t>
            </a:r>
            <a:r>
              <a:rPr lang="en-US" sz="2400" spc="270" dirty="0">
                <a:latin typeface="Verdana"/>
                <a:cs typeface="Verdana"/>
              </a:rPr>
              <a:t> </a:t>
            </a:r>
            <a:r>
              <a:rPr sz="2400" spc="-330" dirty="0">
                <a:latin typeface="Verdana"/>
                <a:cs typeface="Verdana"/>
              </a:rPr>
              <a:t>|</a:t>
            </a:r>
            <a:r>
              <a:rPr sz="2400" spc="270" dirty="0">
                <a:latin typeface="Verdana"/>
                <a:cs typeface="Verdana"/>
              </a:rPr>
              <a:t> </a:t>
            </a:r>
            <a:r>
              <a:rPr sz="2400" spc="135" dirty="0">
                <a:latin typeface="Verdana"/>
                <a:cs typeface="Verdana"/>
              </a:rPr>
              <a:t>MESSAGES:</a:t>
            </a:r>
            <a:r>
              <a:rPr sz="2400" spc="2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15</a:t>
            </a:r>
            <a:r>
              <a:rPr sz="2400" spc="270" dirty="0">
                <a:latin typeface="Verdana"/>
                <a:cs typeface="Verdana"/>
              </a:rPr>
              <a:t> </a:t>
            </a:r>
            <a:r>
              <a:rPr sz="2400" spc="-330" dirty="0">
                <a:latin typeface="Verdana"/>
                <a:cs typeface="Verdana"/>
              </a:rPr>
              <a:t>|</a:t>
            </a:r>
            <a:r>
              <a:rPr sz="2400" spc="270" dirty="0">
                <a:latin typeface="Verdana"/>
                <a:cs typeface="Verdana"/>
              </a:rPr>
              <a:t> </a:t>
            </a:r>
            <a:r>
              <a:rPr sz="2400" spc="110" dirty="0">
                <a:latin typeface="Verdana"/>
                <a:cs typeface="Verdana"/>
              </a:rPr>
              <a:t>AVG</a:t>
            </a:r>
            <a:r>
              <a:rPr sz="2400" spc="270" dirty="0">
                <a:latin typeface="Verdana"/>
                <a:cs typeface="Verdana"/>
              </a:rPr>
              <a:t> </a:t>
            </a:r>
            <a:r>
              <a:rPr sz="2400" spc="75" dirty="0">
                <a:latin typeface="Verdana"/>
                <a:cs typeface="Verdana"/>
              </a:rPr>
              <a:t>LENGTH:</a:t>
            </a:r>
            <a:r>
              <a:rPr sz="2400" spc="275" dirty="0">
                <a:latin typeface="Verdana"/>
                <a:cs typeface="Verdana"/>
              </a:rPr>
              <a:t> </a:t>
            </a:r>
            <a:r>
              <a:rPr sz="2400" spc="-140" dirty="0">
                <a:latin typeface="Verdana"/>
                <a:cs typeface="Verdana"/>
              </a:rPr>
              <a:t>10</a:t>
            </a:r>
            <a:r>
              <a:rPr sz="2400" spc="-660" dirty="0">
                <a:latin typeface="Verdana"/>
                <a:cs typeface="Verdana"/>
              </a:rPr>
              <a:t> </a:t>
            </a:r>
            <a:r>
              <a:rPr sz="2400" spc="-345" dirty="0">
                <a:latin typeface="Verdana"/>
                <a:cs typeface="Verdana"/>
              </a:rPr>
              <a:t>.</a:t>
            </a:r>
            <a:r>
              <a:rPr sz="2400" spc="-660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5</a:t>
            </a:r>
            <a:endParaRPr sz="2400" dirty="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297701"/>
              </p:ext>
            </p:extLst>
          </p:nvPr>
        </p:nvGraphicFramePr>
        <p:xfrm>
          <a:off x="3048000" y="4290060"/>
          <a:ext cx="10284458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8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9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31750">
                        <a:lnSpc>
                          <a:spcPts val="3110"/>
                        </a:lnSpc>
                      </a:pPr>
                      <a:r>
                        <a:rPr lang="en-IN" sz="2600" spc="-490">
                          <a:latin typeface="Verdana"/>
                          <a:cs typeface="Verdana"/>
                        </a:rPr>
                        <a:t>+</a:t>
                      </a:r>
                      <a:r>
                        <a:rPr lang="en-IN" sz="2600" spc="-660">
                          <a:latin typeface="Verdana"/>
                          <a:cs typeface="Verdana"/>
                        </a:rPr>
                        <a:t> </a:t>
                      </a:r>
                      <a:r>
                        <a:rPr lang="en-IN" sz="2600">
                          <a:latin typeface="Verdana"/>
                          <a:cs typeface="Verdana"/>
                        </a:rPr>
                        <a:t>91</a:t>
                      </a:r>
                      <a:r>
                        <a:rPr lang="en-IN" sz="2600" spc="155">
                          <a:latin typeface="Verdana"/>
                          <a:cs typeface="Verdana"/>
                        </a:rPr>
                        <a:t> </a:t>
                      </a:r>
                      <a:r>
                        <a:rPr lang="en-IN" sz="2600" spc="130">
                          <a:latin typeface="Verdana"/>
                          <a:cs typeface="Verdana"/>
                        </a:rPr>
                        <a:t>70627</a:t>
                      </a:r>
                      <a:r>
                        <a:rPr lang="en-IN" sz="2600" spc="180">
                          <a:latin typeface="Verdana"/>
                          <a:cs typeface="Verdana"/>
                        </a:rPr>
                        <a:t> </a:t>
                      </a:r>
                      <a:r>
                        <a:rPr lang="en-IN" sz="2600" spc="175">
                          <a:latin typeface="Verdana"/>
                          <a:cs typeface="Verdana"/>
                        </a:rPr>
                        <a:t>0YYY6</a:t>
                      </a:r>
                      <a:endParaRPr lang="en-IN" sz="2600" dirty="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3110"/>
                        </a:lnSpc>
                      </a:pPr>
                      <a:r>
                        <a:rPr lang="en-IN" sz="2600" spc="-330">
                          <a:latin typeface="Verdana"/>
                          <a:cs typeface="Verdana"/>
                        </a:rPr>
                        <a:t>|</a:t>
                      </a:r>
                      <a:r>
                        <a:rPr lang="en-IN" sz="2600" spc="325">
                          <a:latin typeface="Verdana"/>
                          <a:cs typeface="Verdana"/>
                        </a:rPr>
                        <a:t> </a:t>
                      </a:r>
                      <a:r>
                        <a:rPr lang="en-IN" sz="2600" spc="135">
                          <a:latin typeface="Verdana"/>
                          <a:cs typeface="Verdana"/>
                        </a:rPr>
                        <a:t>MESSAGES:</a:t>
                      </a:r>
                      <a:r>
                        <a:rPr lang="en-IN" sz="2600" spc="330">
                          <a:latin typeface="Verdana"/>
                          <a:cs typeface="Verdana"/>
                        </a:rPr>
                        <a:t> </a:t>
                      </a:r>
                      <a:r>
                        <a:rPr lang="en-IN" sz="2600" spc="-50">
                          <a:latin typeface="Verdana"/>
                          <a:cs typeface="Verdana"/>
                        </a:rPr>
                        <a:t>7</a:t>
                      </a:r>
                      <a:endParaRPr lang="en-IN" sz="2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3110"/>
                        </a:lnSpc>
                      </a:pPr>
                      <a:r>
                        <a:rPr lang="en-IN" sz="2600" spc="-330">
                          <a:latin typeface="Verdana"/>
                          <a:cs typeface="Verdana"/>
                        </a:rPr>
                        <a:t>|</a:t>
                      </a:r>
                      <a:r>
                        <a:rPr lang="en-IN" sz="2600" spc="340">
                          <a:latin typeface="Verdana"/>
                          <a:cs typeface="Verdana"/>
                        </a:rPr>
                        <a:t> </a:t>
                      </a:r>
                      <a:r>
                        <a:rPr lang="en-IN" sz="2600" spc="110">
                          <a:latin typeface="Verdana"/>
                          <a:cs typeface="Verdana"/>
                        </a:rPr>
                        <a:t>AVG</a:t>
                      </a:r>
                      <a:r>
                        <a:rPr lang="en-IN" sz="2600" spc="340">
                          <a:latin typeface="Verdana"/>
                          <a:cs typeface="Verdana"/>
                        </a:rPr>
                        <a:t> </a:t>
                      </a:r>
                      <a:r>
                        <a:rPr lang="en-IN" sz="2600" spc="75">
                          <a:latin typeface="Verdana"/>
                          <a:cs typeface="Verdana"/>
                        </a:rPr>
                        <a:t>LENGTH:</a:t>
                      </a:r>
                      <a:r>
                        <a:rPr lang="en-IN" sz="2600" spc="340">
                          <a:latin typeface="Verdana"/>
                          <a:cs typeface="Verdana"/>
                        </a:rPr>
                        <a:t> </a:t>
                      </a:r>
                      <a:r>
                        <a:rPr lang="en-IN" sz="2600" spc="100">
                          <a:latin typeface="Verdana"/>
                          <a:cs typeface="Verdana"/>
                        </a:rPr>
                        <a:t>25</a:t>
                      </a:r>
                      <a:r>
                        <a:rPr lang="en-IN" sz="2600" spc="-655">
                          <a:latin typeface="Verdana"/>
                          <a:cs typeface="Verdana"/>
                        </a:rPr>
                        <a:t> </a:t>
                      </a:r>
                      <a:r>
                        <a:rPr lang="en-IN" sz="2600" spc="-345">
                          <a:latin typeface="Verdana"/>
                          <a:cs typeface="Verdana"/>
                        </a:rPr>
                        <a:t>.</a:t>
                      </a:r>
                      <a:r>
                        <a:rPr lang="en-IN" sz="2600" spc="-655">
                          <a:latin typeface="Verdana"/>
                          <a:cs typeface="Verdana"/>
                        </a:rPr>
                        <a:t> </a:t>
                      </a:r>
                      <a:r>
                        <a:rPr lang="en-IN" sz="2600" spc="-50">
                          <a:latin typeface="Verdana"/>
                          <a:cs typeface="Verdana"/>
                        </a:rPr>
                        <a:t>0</a:t>
                      </a:r>
                      <a:endParaRPr lang="en-IN" sz="2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31750">
                        <a:lnSpc>
                          <a:spcPts val="3115"/>
                        </a:lnSpc>
                        <a:spcBef>
                          <a:spcPts val="145"/>
                        </a:spcBef>
                      </a:pPr>
                      <a:r>
                        <a:rPr lang="en-IN" sz="2600" spc="-490">
                          <a:latin typeface="Verdana"/>
                          <a:cs typeface="Verdana"/>
                        </a:rPr>
                        <a:t>+</a:t>
                      </a:r>
                      <a:r>
                        <a:rPr lang="en-IN" sz="2600" spc="-660">
                          <a:latin typeface="Verdana"/>
                          <a:cs typeface="Verdana"/>
                        </a:rPr>
                        <a:t> </a:t>
                      </a:r>
                      <a:r>
                        <a:rPr lang="en-IN" sz="2600">
                          <a:latin typeface="Verdana"/>
                          <a:cs typeface="Verdana"/>
                        </a:rPr>
                        <a:t>91</a:t>
                      </a:r>
                      <a:r>
                        <a:rPr lang="en-IN" sz="2600" spc="5">
                          <a:latin typeface="Verdana"/>
                          <a:cs typeface="Verdana"/>
                        </a:rPr>
                        <a:t> </a:t>
                      </a:r>
                      <a:r>
                        <a:rPr lang="en-IN" sz="2600" spc="125">
                          <a:latin typeface="Verdana"/>
                          <a:cs typeface="Verdana"/>
                        </a:rPr>
                        <a:t>95410 5ZZZ7</a:t>
                      </a:r>
                      <a:endParaRPr lang="en-IN" sz="2600" dirty="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3115"/>
                        </a:lnSpc>
                        <a:spcBef>
                          <a:spcPts val="145"/>
                        </a:spcBef>
                      </a:pPr>
                      <a:r>
                        <a:rPr lang="en-US" sz="2600" spc="-330">
                          <a:latin typeface="Verdana"/>
                          <a:cs typeface="Verdana"/>
                        </a:rPr>
                        <a:t> |</a:t>
                      </a:r>
                      <a:r>
                        <a:rPr lang="en-US" sz="2600" spc="325">
                          <a:latin typeface="Verdana"/>
                          <a:cs typeface="Verdana"/>
                        </a:rPr>
                        <a:t> </a:t>
                      </a:r>
                      <a:r>
                        <a:rPr lang="en-US" sz="2600" spc="135">
                          <a:latin typeface="Verdana"/>
                          <a:cs typeface="Verdana"/>
                        </a:rPr>
                        <a:t>MESSAGES:</a:t>
                      </a:r>
                      <a:r>
                        <a:rPr lang="en-US" sz="2600" spc="330">
                          <a:latin typeface="Verdana"/>
                          <a:cs typeface="Verdana"/>
                        </a:rPr>
                        <a:t> </a:t>
                      </a:r>
                      <a:r>
                        <a:rPr lang="en-US" sz="2600" spc="-50">
                          <a:latin typeface="Verdana"/>
                          <a:cs typeface="Verdana"/>
                        </a:rPr>
                        <a:t>7</a:t>
                      </a:r>
                      <a:endParaRPr lang="en-US" sz="2600" dirty="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3115"/>
                        </a:lnSpc>
                        <a:spcBef>
                          <a:spcPts val="145"/>
                        </a:spcBef>
                      </a:pPr>
                      <a:r>
                        <a:rPr lang="en-IN" sz="2600" spc="-330" dirty="0">
                          <a:latin typeface="Verdana"/>
                          <a:cs typeface="Verdana"/>
                        </a:rPr>
                        <a:t>|</a:t>
                      </a:r>
                      <a:r>
                        <a:rPr lang="en-IN" sz="2600" spc="3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en-IN" sz="2600" spc="110" dirty="0">
                          <a:latin typeface="Verdana"/>
                          <a:cs typeface="Verdana"/>
                        </a:rPr>
                        <a:t>AVG</a:t>
                      </a:r>
                      <a:r>
                        <a:rPr lang="en-IN" sz="2600" spc="3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en-IN" sz="2600" spc="75" dirty="0">
                          <a:latin typeface="Verdana"/>
                          <a:cs typeface="Verdana"/>
                        </a:rPr>
                        <a:t>LENGTH:</a:t>
                      </a:r>
                      <a:r>
                        <a:rPr lang="en-IN" sz="2600" spc="3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en-IN" sz="2600" spc="-150" dirty="0">
                          <a:latin typeface="Verdana"/>
                          <a:cs typeface="Verdana"/>
                        </a:rPr>
                        <a:t>18</a:t>
                      </a:r>
                      <a:r>
                        <a:rPr lang="en-IN" sz="2600" spc="-6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en-IN" sz="2600" spc="-345" dirty="0">
                          <a:latin typeface="Verdana"/>
                          <a:cs typeface="Verdana"/>
                        </a:rPr>
                        <a:t>.</a:t>
                      </a:r>
                      <a:r>
                        <a:rPr lang="en-IN" sz="2600" spc="-6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en-IN" sz="2600" spc="-50" dirty="0">
                          <a:latin typeface="Verdana"/>
                          <a:cs typeface="Verdana"/>
                        </a:rPr>
                        <a:t>7</a:t>
                      </a:r>
                      <a:endParaRPr lang="en-IN" sz="2600" dirty="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048000" y="5613780"/>
            <a:ext cx="6551930" cy="3808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215" dirty="0">
                <a:latin typeface="Verdana"/>
                <a:cs typeface="Verdana"/>
              </a:rPr>
              <a:t>MOST</a:t>
            </a:r>
            <a:r>
              <a:rPr sz="2400" spc="360" dirty="0">
                <a:latin typeface="Verdana"/>
                <a:cs typeface="Verdana"/>
              </a:rPr>
              <a:t> </a:t>
            </a:r>
            <a:r>
              <a:rPr sz="2400" spc="140" dirty="0">
                <a:latin typeface="Verdana"/>
                <a:cs typeface="Verdana"/>
              </a:rPr>
              <a:t>ACTIVE</a:t>
            </a:r>
            <a:r>
              <a:rPr sz="2400" spc="3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HOUR:</a:t>
            </a:r>
            <a:r>
              <a:rPr sz="2400" spc="360" dirty="0">
                <a:latin typeface="Verdana"/>
                <a:cs typeface="Verdana"/>
              </a:rPr>
              <a:t> </a:t>
            </a:r>
            <a:r>
              <a:rPr sz="2400" spc="-150" dirty="0">
                <a:latin typeface="Verdana"/>
                <a:cs typeface="Verdana"/>
              </a:rPr>
              <a:t>19</a:t>
            </a:r>
            <a:r>
              <a:rPr sz="2400" spc="-650" dirty="0">
                <a:latin typeface="Verdana"/>
                <a:cs typeface="Verdana"/>
              </a:rPr>
              <a:t> </a:t>
            </a:r>
            <a:r>
              <a:rPr sz="2400" spc="-660" dirty="0">
                <a:latin typeface="Verdana"/>
                <a:cs typeface="Verdana"/>
              </a:rPr>
              <a:t>:</a:t>
            </a:r>
            <a:r>
              <a:rPr sz="2400" spc="-655" dirty="0">
                <a:latin typeface="Verdana"/>
                <a:cs typeface="Verdana"/>
              </a:rPr>
              <a:t> </a:t>
            </a:r>
            <a:r>
              <a:rPr sz="2400" spc="175" dirty="0">
                <a:latin typeface="Verdana"/>
                <a:cs typeface="Verdana"/>
              </a:rPr>
              <a:t>00</a:t>
            </a:r>
            <a:r>
              <a:rPr sz="2400" spc="360" dirty="0">
                <a:latin typeface="Verdana"/>
                <a:cs typeface="Verdana"/>
              </a:rPr>
              <a:t> </a:t>
            </a:r>
            <a:r>
              <a:rPr sz="2400" spc="-295" dirty="0">
                <a:latin typeface="Verdana"/>
                <a:cs typeface="Verdana"/>
              </a:rPr>
              <a:t>-</a:t>
            </a:r>
            <a:r>
              <a:rPr sz="2400" spc="360" dirty="0">
                <a:latin typeface="Verdana"/>
                <a:cs typeface="Verdana"/>
              </a:rPr>
              <a:t> </a:t>
            </a:r>
            <a:r>
              <a:rPr sz="2400" spc="114" dirty="0">
                <a:latin typeface="Verdana"/>
                <a:cs typeface="Verdana"/>
              </a:rPr>
              <a:t>20</a:t>
            </a:r>
            <a:r>
              <a:rPr sz="2400" spc="-650" dirty="0">
                <a:latin typeface="Verdana"/>
                <a:cs typeface="Verdana"/>
              </a:rPr>
              <a:t> </a:t>
            </a:r>
            <a:r>
              <a:rPr sz="2400" spc="-660" dirty="0">
                <a:latin typeface="Verdana"/>
                <a:cs typeface="Verdana"/>
              </a:rPr>
              <a:t>:</a:t>
            </a:r>
            <a:r>
              <a:rPr sz="2400" spc="-655" dirty="0">
                <a:latin typeface="Verdana"/>
                <a:cs typeface="Verdana"/>
              </a:rPr>
              <a:t> </a:t>
            </a:r>
            <a:r>
              <a:rPr sz="2400" spc="150" dirty="0">
                <a:latin typeface="Verdana"/>
                <a:cs typeface="Verdana"/>
              </a:rPr>
              <a:t>00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517" y="573578"/>
            <a:ext cx="15267483" cy="1382449"/>
          </a:xfrm>
          <a:prstGeom prst="rect">
            <a:avLst/>
          </a:prstGeom>
        </p:spPr>
        <p:txBody>
          <a:bodyPr vert="horz" wrap="square" lIns="0" tIns="271799" rIns="0" bIns="0" rtlCol="0">
            <a:spAutoFit/>
          </a:bodyPr>
          <a:lstStyle/>
          <a:p>
            <a:pPr marL="325755">
              <a:lnSpc>
                <a:spcPct val="100000"/>
              </a:lnSpc>
              <a:spcBef>
                <a:spcPts val="100"/>
              </a:spcBef>
            </a:pPr>
            <a:r>
              <a:rPr sz="7200" spc="-45" dirty="0"/>
              <a:t>Conclusion: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12915902" y="9677954"/>
            <a:ext cx="422909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5363" y="3799861"/>
            <a:ext cx="131923" cy="1319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5363" y="4411506"/>
            <a:ext cx="131923" cy="1319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5363" y="5023151"/>
            <a:ext cx="131923" cy="13192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03153" y="3444159"/>
            <a:ext cx="13476605" cy="17517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763135">
              <a:lnSpc>
                <a:spcPct val="133800"/>
              </a:lnSpc>
              <a:spcBef>
                <a:spcPts val="95"/>
              </a:spcBef>
            </a:pPr>
            <a:r>
              <a:rPr sz="2800" b="1" dirty="0">
                <a:latin typeface="Tahoma"/>
                <a:cs typeface="Tahoma"/>
              </a:rPr>
              <a:t>The</a:t>
            </a:r>
            <a:r>
              <a:rPr sz="2800" b="1" spc="-5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project</a:t>
            </a:r>
            <a:r>
              <a:rPr sz="2800" b="1" spc="-55" dirty="0">
                <a:latin typeface="Tahoma"/>
                <a:cs typeface="Tahoma"/>
              </a:rPr>
              <a:t> </a:t>
            </a:r>
            <a:r>
              <a:rPr sz="2800" b="1" spc="50" dirty="0">
                <a:latin typeface="Tahoma"/>
                <a:cs typeface="Tahoma"/>
              </a:rPr>
              <a:t>helps</a:t>
            </a:r>
            <a:r>
              <a:rPr sz="2800" b="1" spc="-5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analyze</a:t>
            </a:r>
            <a:r>
              <a:rPr sz="2800" b="1" spc="-50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chat</a:t>
            </a:r>
            <a:r>
              <a:rPr sz="2800" b="1" spc="-55" dirty="0">
                <a:latin typeface="Tahoma"/>
                <a:cs typeface="Tahoma"/>
              </a:rPr>
              <a:t> </a:t>
            </a:r>
            <a:r>
              <a:rPr sz="2800" b="1" spc="-30" dirty="0">
                <a:latin typeface="Tahoma"/>
                <a:cs typeface="Tahoma"/>
              </a:rPr>
              <a:t>activity</a:t>
            </a:r>
            <a:r>
              <a:rPr sz="2800" b="1" spc="-55" dirty="0">
                <a:latin typeface="Tahoma"/>
                <a:cs typeface="Tahoma"/>
              </a:rPr>
              <a:t> </a:t>
            </a:r>
            <a:r>
              <a:rPr sz="2800" b="1" spc="-10" dirty="0">
                <a:latin typeface="Tahoma"/>
                <a:cs typeface="Tahoma"/>
              </a:rPr>
              <a:t>easily. </a:t>
            </a:r>
            <a:r>
              <a:rPr sz="2800" b="1" dirty="0">
                <a:latin typeface="Tahoma"/>
                <a:cs typeface="Tahoma"/>
              </a:rPr>
              <a:t>Shows</a:t>
            </a:r>
            <a:r>
              <a:rPr sz="2800" b="1" spc="-50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who</a:t>
            </a:r>
            <a:r>
              <a:rPr sz="2800" b="1" spc="-4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is</a:t>
            </a:r>
            <a:r>
              <a:rPr sz="2800" b="1" spc="-4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most</a:t>
            </a:r>
            <a:r>
              <a:rPr sz="2800" b="1" spc="-4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active</a:t>
            </a:r>
            <a:r>
              <a:rPr sz="2800" b="1" spc="-4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and</a:t>
            </a:r>
            <a:r>
              <a:rPr sz="2800" b="1" spc="-45" dirty="0">
                <a:latin typeface="Tahoma"/>
                <a:cs typeface="Tahoma"/>
              </a:rPr>
              <a:t> </a:t>
            </a:r>
            <a:r>
              <a:rPr sz="2800" b="1" spc="-10" dirty="0">
                <a:latin typeface="Tahoma"/>
                <a:cs typeface="Tahoma"/>
              </a:rPr>
              <a:t>when.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2800" b="1" dirty="0">
                <a:latin typeface="Tahoma"/>
                <a:cs typeface="Tahoma"/>
              </a:rPr>
              <a:t>Demonstrates</a:t>
            </a:r>
            <a:r>
              <a:rPr sz="2800" b="1" spc="-12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file</a:t>
            </a:r>
            <a:r>
              <a:rPr sz="2800" b="1" spc="-120" dirty="0">
                <a:latin typeface="Tahoma"/>
                <a:cs typeface="Tahoma"/>
              </a:rPr>
              <a:t> </a:t>
            </a:r>
            <a:r>
              <a:rPr sz="2800" b="1" spc="-45" dirty="0">
                <a:latin typeface="Tahoma"/>
                <a:cs typeface="Tahoma"/>
              </a:rPr>
              <a:t>handling,</a:t>
            </a:r>
            <a:r>
              <a:rPr sz="2800" b="1" spc="-120" dirty="0">
                <a:latin typeface="Tahoma"/>
                <a:cs typeface="Tahoma"/>
              </a:rPr>
              <a:t> </a:t>
            </a:r>
            <a:r>
              <a:rPr sz="2800" b="1" spc="-25" dirty="0">
                <a:latin typeface="Tahoma"/>
                <a:cs typeface="Tahoma"/>
              </a:rPr>
              <a:t>string</a:t>
            </a:r>
            <a:r>
              <a:rPr sz="2800" b="1" spc="-120" dirty="0">
                <a:latin typeface="Tahoma"/>
                <a:cs typeface="Tahoma"/>
              </a:rPr>
              <a:t> </a:t>
            </a:r>
            <a:r>
              <a:rPr sz="2800" b="1" spc="-60" dirty="0">
                <a:latin typeface="Tahoma"/>
                <a:cs typeface="Tahoma"/>
              </a:rPr>
              <a:t>manipulation,</a:t>
            </a:r>
            <a:r>
              <a:rPr sz="2800" b="1" spc="-120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and</a:t>
            </a:r>
            <a:r>
              <a:rPr sz="2800" b="1" spc="-120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data</a:t>
            </a:r>
            <a:r>
              <a:rPr sz="2800" b="1" spc="-12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analysis</a:t>
            </a:r>
            <a:r>
              <a:rPr sz="2800" b="1" spc="-120" dirty="0">
                <a:latin typeface="Tahoma"/>
                <a:cs typeface="Tahoma"/>
              </a:rPr>
              <a:t> </a:t>
            </a:r>
            <a:r>
              <a:rPr sz="2800" b="1" spc="-95" dirty="0">
                <a:latin typeface="Tahoma"/>
                <a:cs typeface="Tahoma"/>
              </a:rPr>
              <a:t>in</a:t>
            </a:r>
            <a:r>
              <a:rPr sz="2800" b="1" spc="-120" dirty="0">
                <a:latin typeface="Tahoma"/>
                <a:cs typeface="Tahoma"/>
              </a:rPr>
              <a:t> </a:t>
            </a:r>
            <a:r>
              <a:rPr sz="2800" b="1" spc="-25" dirty="0">
                <a:latin typeface="Tahoma"/>
                <a:cs typeface="Tahoma"/>
              </a:rPr>
              <a:t>C.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17</TotalTime>
  <Words>367</Words>
  <Application>Microsoft Macintosh PowerPoint</Application>
  <PresentationFormat>Custom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 Unicode MS</vt:lpstr>
      <vt:lpstr>Adelle Sans Devanagari</vt:lpstr>
      <vt:lpstr>Arial</vt:lpstr>
      <vt:lpstr>Georgia</vt:lpstr>
      <vt:lpstr>Gill Sans MT</vt:lpstr>
      <vt:lpstr>Impact</vt:lpstr>
      <vt:lpstr>Lucida Sans Unicode</vt:lpstr>
      <vt:lpstr>Tahoma</vt:lpstr>
      <vt:lpstr>Verdana</vt:lpstr>
      <vt:lpstr>Badge</vt:lpstr>
      <vt:lpstr>WhatsApp ChatAnalyzer</vt:lpstr>
      <vt:lpstr>Objective:</vt:lpstr>
      <vt:lpstr>Algorithm Used</vt:lpstr>
      <vt:lpstr>User Data Structure Overview:</vt:lpstr>
      <vt:lpstr>Optimizations Implemented:</vt:lpstr>
      <vt:lpstr>Sample Output</vt:lpstr>
      <vt:lpstr>Conclusion: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dc:creator>Shivani Barwad (B24CH1049)</dc:creator>
  <cp:keywords>DAG4aKIe5g0,BAG4acx_mCI,0</cp:keywords>
  <cp:lastModifiedBy>Shreshth Dhimole</cp:lastModifiedBy>
  <cp:revision>2</cp:revision>
  <dcterms:created xsi:type="dcterms:W3CDTF">2025-12-01T19:16:24Z</dcterms:created>
  <dcterms:modified xsi:type="dcterms:W3CDTF">2025-12-01T19:33:45Z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2025-11-11T00:00:00Z</vt:filetime>
  </property>
  <property fmtid="{D5CDD505-2E9C-101B-9397-08002B2CF9AE}" pid="3" name="Creator">
    <vt:lpwstr>Canva</vt:lpwstr>
  </property>
  <property fmtid="{D5CDD505-2E9C-101B-9397-08002B2CF9AE}" pid="4" name="LastSaved">
    <vt:filetime>2025-12-01T00:00:00Z</vt:filetime>
  </property>
  <property fmtid="{D5CDD505-2E9C-101B-9397-08002B2CF9AE}" pid="5" name="Producer">
    <vt:lpwstr>Canva</vt:lpwstr>
  </property>
</Properties>
</file>